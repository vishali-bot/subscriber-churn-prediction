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10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-108" y="7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8A3B4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98A3B4"/>
                </a:solidFill>
                <a:latin typeface="Calibri"/>
              </a:rPr>
              <a:t>F1-score on the held-out test set (Figure 1)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8B7FF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Platform A</c:v>
                </c:pt>
                <c:pt idx="1">
                  <c:v>Platform B</c:v>
                </c:pt>
                <c:pt idx="2">
                  <c:v>Platform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0.88700000000000001</c:v>
                </c:pt>
                <c:pt idx="1">
                  <c:v>0.11799999999999999</c:v>
                </c:pt>
                <c:pt idx="2">
                  <c:v>0.60499999999999998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8C-4D2A-A868-AC0F9F55AE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Platform A</c:v>
                </c:pt>
                <c:pt idx="1">
                  <c:v>Platform B</c:v>
                </c:pt>
                <c:pt idx="2">
                  <c:v>Platform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0.13</c:v>
                </c:pt>
                <c:pt idx="2">
                  <c:v>0.63800000000000001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8C-4D2A-A868-AC0F9F55AE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Platform A</c:v>
                </c:pt>
                <c:pt idx="1">
                  <c:v>Platform B</c:v>
                </c:pt>
                <c:pt idx="2">
                  <c:v>Platform 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0.99099999999999999</c:v>
                </c:pt>
                <c:pt idx="1">
                  <c:v>0.30499999999999999</c:v>
                </c:pt>
                <c:pt idx="2">
                  <c:v>0.60199999999999998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8C-4D2A-A868-AC0F9F55A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8A3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12700" cap="flat">
              <a:solidFill>
                <a:srgbClr val="2A32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8A3B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8A3B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14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prediction compared across three independent datasets using one identical machine-learning pipeline. The headline finding is that the dataset matters more than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provenance check found two of the four files shared all 5,000 customer IDs and an identical churn rate. One was excluded. The same six-stage pipeline with fixed hyperparameters was then run on each surviving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three-model pipeline produced near-perfect classification on one dataset and barely-better-than-chance classification on another. Reported model accuracy says as much about the dataset as about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A is suspiciously clean, Platform B demonstrates the accuracy trap under class imbalance, Platform C shows that rich-looking features can carry little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6 Random Forest feature importances per platform, per Figure 2. Engagement intensity is the single most consistent churn signal; bar lengths are scaled within each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four-layer architecture grounded in the study's findings, feeding a three-tier intervention playbook where the expensive action is reserved for the tier the model is most confident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takeaways, the study's stated limitations, and four directions for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prediction compared across three independent datasets using one identical machine-learning pipeline. The headline finding is that the dataset matters more than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1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4389120"/>
            <a:ext cx="182880" cy="50292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30184" y="4023360"/>
            <a:ext cx="182880" cy="86868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526280"/>
            <a:ext cx="182880" cy="36576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88552" y="3474720"/>
            <a:ext cx="182880" cy="141732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17736" y="4206240"/>
            <a:ext cx="182880" cy="68580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2926080"/>
            <a:ext cx="182880" cy="1965960"/>
          </a:xfrm>
          <a:prstGeom prst="roundRect">
            <a:avLst>
              <a:gd name="adj" fmla="val 4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76104" y="4434840"/>
            <a:ext cx="182880" cy="45720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05288" y="3794760"/>
            <a:ext cx="182880" cy="109728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4472" y="4572000"/>
            <a:ext cx="182880" cy="32004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63656" y="3200400"/>
            <a:ext cx="182880" cy="1691640"/>
          </a:xfrm>
          <a:prstGeom prst="roundRect">
            <a:avLst>
              <a:gd name="adj" fmla="val 4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4343400"/>
            <a:ext cx="182880" cy="54864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22024" y="3931920"/>
            <a:ext cx="182880" cy="96012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SUBSCRIBER RETENTION  ·  2026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6916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</a:t>
            </a:r>
            <a:r>
              <a:rPr lang="en-US" sz="5200" dirty="0"/>
              <a:t> </a:t>
            </a:r>
            <a:r>
              <a:rPr lang="en-US" sz="5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29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datasets · 6,963 subscribers · 3 trained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2926080" cy="0"/>
          </a:xfrm>
          <a:prstGeom prst="line">
            <a:avLst/>
          </a:prstGeom>
          <a:noFill/>
          <a:ln w="12700">
            <a:solidFill>
              <a:srgbClr val="273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20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VISHALI 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MCA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College, Madurai, India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30051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3.1 – 3.3  ·  DATA &amp;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57483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files in, three platforms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2336" y="1589822"/>
            <a:ext cx="2487168" cy="1188720"/>
          </a:xfrm>
          <a:prstGeom prst="roundRect">
            <a:avLst>
              <a:gd name="adj" fmla="val 8462"/>
            </a:avLst>
          </a:prstGeom>
          <a:solidFill>
            <a:srgbClr val="161A24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85216" y="174527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files received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22990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named as if independent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62656" y="2074454"/>
            <a:ext cx="256032" cy="219456"/>
          </a:xfrm>
          <a:prstGeom prst="rightArrow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589822"/>
            <a:ext cx="2487168" cy="1188720"/>
          </a:xfrm>
          <a:prstGeom prst="roundRect">
            <a:avLst>
              <a:gd name="adj" fmla="val 8462"/>
            </a:avLst>
          </a:prstGeom>
          <a:solidFill>
            <a:srgbClr val="161A24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74527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overlap check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22990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Cross-join IDs across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074454"/>
            <a:ext cx="256032" cy="219456"/>
          </a:xfrm>
          <a:prstGeom prst="rightArrow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81344" y="1589822"/>
            <a:ext cx="2487168" cy="1188720"/>
          </a:xfrm>
          <a:prstGeom prst="roundRect">
            <a:avLst>
              <a:gd name="adj" fmla="val 8462"/>
            </a:avLst>
          </a:prstGeom>
          <a:solidFill>
            <a:srgbClr val="1E2430"/>
          </a:solidFill>
          <a:ln w="25400">
            <a:solidFill>
              <a:srgbClr val="F5A524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64224" y="174527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/ 5,000 match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22990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50.3% churn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41664" y="2074454"/>
            <a:ext cx="256032" cy="219456"/>
          </a:xfrm>
          <a:prstGeom prst="rightArrow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0848" y="1589822"/>
            <a:ext cx="2487168" cy="1188720"/>
          </a:xfrm>
          <a:prstGeom prst="roundRect">
            <a:avLst>
              <a:gd name="adj" fmla="val 8462"/>
            </a:avLst>
          </a:prstGeom>
          <a:solidFill>
            <a:srgbClr val="1E2430"/>
          </a:solidFill>
          <a:ln w="25400">
            <a:solidFill>
              <a:srgbClr val="E5484D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53728" y="174527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dataset — excluded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22990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'cleaned' file was the messier 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" y="3745325"/>
            <a:ext cx="3456432" cy="1600200"/>
          </a:xfrm>
          <a:prstGeom prst="roundRect">
            <a:avLst>
              <a:gd name="adj" fmla="val 6286"/>
            </a:avLst>
          </a:prstGeom>
          <a:solidFill>
            <a:srgbClr val="1E2430"/>
          </a:solidFill>
          <a:ln w="12700">
            <a:solidFill>
              <a:srgbClr val="E5484D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0936" y="389162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" y="4165949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netflix_customer_churn.csv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" y="445855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rows · 50.3% churn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" y="4769453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hours, login recency, plan, payment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33088" y="3702086"/>
            <a:ext cx="3456432" cy="1600200"/>
          </a:xfrm>
          <a:prstGeom prst="roundRect">
            <a:avLst>
              <a:gd name="adj" fmla="val 6286"/>
            </a:avLst>
          </a:prstGeom>
          <a:solidFill>
            <a:srgbClr val="1E2430"/>
          </a:solidFill>
          <a:ln w="12700">
            <a:solidFill>
              <a:srgbClr val="F5A524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361688" y="384839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61688" y="412271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Subscription_Service_Churn.csv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61688" y="441531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963 rows · 17.6% churn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361688" y="4726214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viewing duration, support tickets, ratings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3702086"/>
            <a:ext cx="3456432" cy="1600200"/>
          </a:xfrm>
          <a:prstGeom prst="roundRect">
            <a:avLst>
              <a:gd name="adj" fmla="val 6286"/>
            </a:avLst>
          </a:prstGeom>
          <a:solidFill>
            <a:srgbClr val="1E2430"/>
          </a:solidFill>
          <a:ln w="12700">
            <a:solidFill>
              <a:srgbClr val="2DD4B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092440" y="384839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412271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netflix_large_user_data.xlsx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441531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· 53.9% churn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726214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Satisfaction, engagement rate, income, promo usage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02336" y="637213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Subscriber Churn  ·  Cross-Platform ML Study  ·  Vishali K, Fatima College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899648" y="637213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datasets dwarfs the gap between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19503" y="1572768"/>
            <a:ext cx="7589520" cy="4160520"/>
          </a:xfrm>
          <a:prstGeom prst="roundRect">
            <a:avLst>
              <a:gd name="adj" fmla="val 2418"/>
            </a:avLst>
          </a:prstGeom>
          <a:solidFill>
            <a:srgbClr val="1E2430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729159475"/>
              </p:ext>
            </p:extLst>
          </p:nvPr>
        </p:nvGraphicFramePr>
        <p:xfrm>
          <a:off x="2329815" y="1783080"/>
          <a:ext cx="7178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66928" y="5833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before modelling: A 50.3%  ·  B 17.6%  ·  C 53.9%. Gradient Boosting is strongest or tied-strongest everywhere — but that ranking is a footnote next to the vertical distance between the three groups.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Subscriber Churn  ·  Cross-Platform ML Study  ·  Vishali K, Fatima College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382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 – 5  ·  PER-PLATFORM READING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different stories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56432" cy="4160520"/>
          </a:xfrm>
          <a:prstGeom prst="roundRect">
            <a:avLst>
              <a:gd name="adj" fmla="val 2910"/>
            </a:avLst>
          </a:prstGeom>
          <a:solidFill>
            <a:srgbClr val="1E2430"/>
          </a:solidFill>
          <a:ln w="19050">
            <a:solidFill>
              <a:srgbClr val="E5484D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5528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· n = 5,000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331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AUC 0.999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3310128"/>
            <a:ext cx="2999232" cy="0"/>
          </a:xfrm>
          <a:prstGeom prst="line">
            <a:avLst/>
          </a:prstGeom>
          <a:noFill/>
          <a:ln w="12700">
            <a:solidFill>
              <a:srgbClr val="2730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Near-perfect — and that is the warning.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variables carry over 60% of total feature importance.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0.999 AUC is consistent with a dataset generated to contain a clean, learnable relationship.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be promised as a real-world ceiling.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456432" cy="4160520"/>
          </a:xfrm>
          <a:prstGeom prst="roundRect">
            <a:avLst>
              <a:gd name="adj" fmla="val 2910"/>
            </a:avLst>
          </a:prstGeom>
          <a:solidFill>
            <a:srgbClr val="1E2430"/>
          </a:solidFill>
          <a:ln w="19050">
            <a:solidFill>
              <a:srgbClr val="F5A524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2628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Service · n = 963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331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·  81–83%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3310128"/>
            <a:ext cx="2999232" cy="0"/>
          </a:xfrm>
          <a:prstGeom prst="line">
            <a:avLst/>
          </a:prstGeom>
          <a:noFill/>
          <a:ln w="12700">
            <a:solidFill>
              <a:srgbClr val="2730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 accurate. And almost useless.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886200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17.6% churn, predicting 'nobody leaves' already scores 82.4% accuracy.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RF flag fewer than 1 in 12 leaving customers.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rewards exactly what retention teams cannot use.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1600200"/>
            <a:ext cx="3456432" cy="4160520"/>
          </a:xfrm>
          <a:prstGeom prst="roundRect">
            <a:avLst>
              <a:gd name="adj" fmla="val 2910"/>
            </a:avLst>
          </a:prstGeom>
          <a:solidFill>
            <a:srgbClr val="1E2430"/>
          </a:solidFill>
          <a:ln w="19050">
            <a:solidFill>
              <a:srgbClr val="2DD4B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57032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57032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User Data · n = 1,000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2331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257032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  ·  F1 ≤ 0.64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57032" y="3310128"/>
            <a:ext cx="2999232" cy="0"/>
          </a:xfrm>
          <a:prstGeom prst="line">
            <a:avLst/>
          </a:prstGeom>
          <a:noFill/>
          <a:ln w="12700">
            <a:solidFill>
              <a:srgbClr val="27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57032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features, weak signal.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3886200"/>
            <a:ext cx="2999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 leads, but income and age follow immediately behind.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satisfaction and engagement rank below basic demographics.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availability is not feature relevance.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not the algorithm — decides the result. Class balance, feature relevance and provenance set the ceiling before a model is trained.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Subscriber Churn  ·  Cross-Platform ML Study  ·  Vishali K, Fatima College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382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  ·  CHURN DRIVERS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signal survives all three datasets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60320" cy="3246120"/>
          </a:xfrm>
          <a:prstGeom prst="roundRect">
            <a:avLst>
              <a:gd name="adj" fmla="val 3929"/>
            </a:avLst>
          </a:prstGeom>
          <a:solidFill>
            <a:srgbClr val="1E2430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avg_watch_time_per_day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68096" y="2395728"/>
            <a:ext cx="1280160" cy="146304"/>
          </a:xfrm>
          <a:prstGeom prst="roundRect">
            <a:avLst>
              <a:gd name="adj" fmla="val 25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7128" y="2350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679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watch_hours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68096" y="2898648"/>
            <a:ext cx="640080" cy="146304"/>
          </a:xfrm>
          <a:prstGeom prst="roundRect">
            <a:avLst>
              <a:gd name="adj" fmla="val 25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67128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182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last_login_days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8096" y="3401568"/>
            <a:ext cx="548640" cy="146304"/>
          </a:xfrm>
          <a:prstGeom prst="roundRect">
            <a:avLst>
              <a:gd name="adj" fmla="val 25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67128" y="3355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6850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number_of_profiles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3904488"/>
            <a:ext cx="106680" cy="146304"/>
          </a:xfrm>
          <a:prstGeom prst="roundRect">
            <a:avLst>
              <a:gd name="adj" fmla="val 34286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67128" y="3858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8096" y="4407408"/>
            <a:ext cx="45720" cy="146304"/>
          </a:xfrm>
          <a:prstGeom prst="roundRect">
            <a:avLst>
              <a:gd name="adj" fmla="val 8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67128" y="4361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55848" y="1600200"/>
            <a:ext cx="2560320" cy="3246120"/>
          </a:xfrm>
          <a:prstGeom prst="roundRect">
            <a:avLst>
              <a:gd name="adj" fmla="val 3929"/>
            </a:avLst>
          </a:prstGeom>
          <a:solidFill>
            <a:srgbClr val="1E2430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5701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B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57016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57016" y="2395728"/>
            <a:ext cx="1224643" cy="146304"/>
          </a:xfrm>
          <a:prstGeom prst="roundRect">
            <a:avLst>
              <a:gd name="adj" fmla="val 25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2350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557016" y="2679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AverageViewingDuration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57016" y="2898648"/>
            <a:ext cx="1028700" cy="146304"/>
          </a:xfrm>
          <a:prstGeom prst="roundRect">
            <a:avLst>
              <a:gd name="adj" fmla="val 25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56048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557016" y="3182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MonthlyCharges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57016" y="3401568"/>
            <a:ext cx="979714" cy="146304"/>
          </a:xfrm>
          <a:prstGeom prst="roundRect">
            <a:avLst>
              <a:gd name="adj" fmla="val 25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3355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0.100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557016" y="36850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ViewingHoursPerWeek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57016" y="3904488"/>
            <a:ext cx="960120" cy="146304"/>
          </a:xfrm>
          <a:prstGeom prst="roundRect">
            <a:avLst>
              <a:gd name="adj" fmla="val 25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56048" y="3858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3557016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TotalCharges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57016" y="4407408"/>
            <a:ext cx="862149" cy="146304"/>
          </a:xfrm>
          <a:prstGeom prst="roundRect">
            <a:avLst>
              <a:gd name="adj" fmla="val 25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6048" y="4361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44768" y="1600200"/>
            <a:ext cx="2560320" cy="3246120"/>
          </a:xfrm>
          <a:prstGeom prst="roundRect">
            <a:avLst>
              <a:gd name="adj" fmla="val 3929"/>
            </a:avLst>
          </a:prstGeom>
          <a:solidFill>
            <a:srgbClr val="1E2430"/>
          </a:solidFill>
          <a:ln w="12700">
            <a:solidFill>
              <a:srgbClr val="27303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34593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345936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Watch Time (hrs)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45936" y="2395728"/>
            <a:ext cx="1224643" cy="146304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44968" y="2350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345936" y="26791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Income ($)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45936" y="2898648"/>
            <a:ext cx="1175657" cy="146304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44968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345936" y="3182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45936" y="3401568"/>
            <a:ext cx="1126671" cy="146304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44968" y="3355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345936" y="36850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Queries Logged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45936" y="3904488"/>
            <a:ext cx="734786" cy="146304"/>
          </a:xfrm>
          <a:prstGeom prst="roundRect">
            <a:avLst>
              <a:gd name="adj" fmla="val 25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44968" y="3858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6345936" y="41879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8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Rate (1-10)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45936" y="4407408"/>
            <a:ext cx="685800" cy="146304"/>
          </a:xfrm>
          <a:prstGeom prst="roundRect">
            <a:avLst>
              <a:gd name="adj" fmla="val 25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44968" y="43616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052560" y="1600200"/>
            <a:ext cx="2578608" cy="1691640"/>
          </a:xfrm>
          <a:prstGeom prst="roundRect">
            <a:avLst>
              <a:gd name="adj" fmla="val 7568"/>
            </a:avLst>
          </a:prstGeom>
          <a:solidFill>
            <a:srgbClr val="115E56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89720" y="181051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/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9189720" y="276148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predictor on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tested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052560" y="3456432"/>
            <a:ext cx="2578608" cy="1389888"/>
          </a:xfrm>
          <a:prstGeom prst="roundRect">
            <a:avLst>
              <a:gd name="adj" fmla="val 7237"/>
            </a:avLst>
          </a:prstGeom>
          <a:solidFill>
            <a:srgbClr val="161A24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53728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Consistently weak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253728" y="3913632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(C's age aside) and content preference — genre, content type — rank low everywhere tested.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11579"/>
            </a:avLst>
          </a:prstGeom>
          <a:solidFill>
            <a:srgbClr val="161A24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41248" y="5230368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tenure and login recency are each a top predictor on the platform that records them. Practical reading: if a retention system can only monitor one thing, it should monitor how much people are actually watching.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66928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Subscriber Churn  ·  Cross-Platform ML Study  ·  Vishali K, Fatima College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064240" y="6382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retention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15184" cy="2606040"/>
          </a:xfrm>
          <a:prstGeom prst="roundRect">
            <a:avLst>
              <a:gd name="adj" fmla="val 3860"/>
            </a:avLst>
          </a:prstGeom>
          <a:solidFill>
            <a:srgbClr val="1E2430"/>
          </a:solidFill>
          <a:ln w="19050">
            <a:solidFill>
              <a:srgbClr val="8B7FF0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3736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8B7FF0"/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50" b="1" i="0" dirty="0">
                <a:solidFill>
                  <a:schemeClr val="bg1"/>
                </a:solidFill>
                <a:effectLst/>
                <a:latin typeface="Plus Jakarta Sans"/>
              </a:rPr>
              <a:t>LOW RISK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04672" y="2359152"/>
            <a:ext cx="91440" cy="91440"/>
          </a:xfrm>
          <a:prstGeom prst="ellipse">
            <a:avLst/>
          </a:prstGeom>
          <a:solidFill>
            <a:srgbClr val="8B7FF0"/>
          </a:solidFill>
          <a:ln w="12700">
            <a:solidFill>
              <a:srgbClr val="8B7F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2128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IN" sz="1100" b="1" i="0" dirty="0">
                <a:solidFill>
                  <a:schemeClr val="bg1"/>
                </a:solidFill>
                <a:effectLst/>
                <a:latin typeface="Plus Jakarta Sans"/>
              </a:rPr>
              <a:t>Standard Engagement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05840" y="26700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b="0" i="0" dirty="0">
                <a:solidFill>
                  <a:schemeClr val="bg1"/>
                </a:solidFill>
                <a:effectLst/>
                <a:latin typeface="Plus Jakarta Sans"/>
              </a:rPr>
              <a:t>Regular release updates and standard promotional newsletters.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47744" y="2788920"/>
            <a:ext cx="274320" cy="237744"/>
          </a:xfrm>
          <a:prstGeom prst="rightArrow">
            <a:avLst/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559052"/>
            <a:ext cx="2615184" cy="2606040"/>
          </a:xfrm>
          <a:prstGeom prst="roundRect">
            <a:avLst>
              <a:gd name="adj" fmla="val 3860"/>
            </a:avLst>
          </a:prstGeom>
          <a:solidFill>
            <a:srgbClr val="1E2430"/>
          </a:solidFill>
          <a:ln w="19050">
            <a:solidFill>
              <a:srgbClr val="2DD4B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21808" y="173736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17373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50" b="1" i="0" dirty="0">
                <a:solidFill>
                  <a:schemeClr val="bg1"/>
                </a:solidFill>
                <a:effectLst/>
                <a:latin typeface="Plus Jakarta Sans"/>
              </a:rPr>
              <a:t>MODERATE RISK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10933" y="2317589"/>
            <a:ext cx="91440" cy="83127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96850" y="22128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IN" sz="1100" b="1" i="0" dirty="0">
                <a:solidFill>
                  <a:schemeClr val="bg1"/>
                </a:solidFill>
                <a:effectLst/>
                <a:latin typeface="Plus Jakarta Sans"/>
              </a:rPr>
              <a:t>Automated Nudges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5559552" y="27462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b="0" i="0" dirty="0">
                <a:solidFill>
                  <a:schemeClr val="bg1"/>
                </a:solidFill>
                <a:effectLst/>
                <a:latin typeface="Plus Jakarta Sans"/>
              </a:rPr>
              <a:t>Push notifications, personalized content recommendations, and email reminders.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614410" y="2743200"/>
            <a:ext cx="274320" cy="237744"/>
          </a:xfrm>
          <a:prstGeom prst="rightArrow">
            <a:avLst/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00032" y="1572768"/>
            <a:ext cx="2615184" cy="2606040"/>
          </a:xfrm>
          <a:prstGeom prst="roundRect">
            <a:avLst>
              <a:gd name="adj" fmla="val 3860"/>
            </a:avLst>
          </a:prstGeom>
          <a:solidFill>
            <a:srgbClr val="1E2430"/>
          </a:solidFill>
          <a:ln w="19050">
            <a:solidFill>
              <a:srgbClr val="E5484D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01200" y="173736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01200" y="17373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050" b="1" i="0" dirty="0">
                <a:solidFill>
                  <a:schemeClr val="bg1"/>
                </a:solidFill>
                <a:effectLst/>
                <a:latin typeface="Plus Jakarta Sans"/>
              </a:rPr>
              <a:t>HIGH RISK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637776" y="2313432"/>
            <a:ext cx="91440" cy="914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38944" y="22128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IN" sz="1100" b="1" i="0" dirty="0">
                <a:solidFill>
                  <a:schemeClr val="bg1"/>
                </a:solidFill>
                <a:effectLst/>
                <a:latin typeface="Plus Jakarta Sans"/>
              </a:rPr>
              <a:t>Personalized Action</a:t>
            </a:r>
          </a:p>
        </p:txBody>
      </p:sp>
      <p:sp>
        <p:nvSpPr>
          <p:cNvPr id="46" name="Text 44"/>
          <p:cNvSpPr txBox="1"/>
          <p:nvPr/>
        </p:nvSpPr>
        <p:spPr>
          <a:xfrm>
            <a:off x="9838944" y="26700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b="0" i="0" dirty="0">
                <a:solidFill>
                  <a:schemeClr val="bg1"/>
                </a:solidFill>
                <a:effectLst/>
                <a:latin typeface="Plus Jakarta Sans"/>
              </a:rPr>
              <a:t>Direct phone outreach, custom support, and targeted win-back discount offers.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566928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every intervention outcome is written back as a training label. The feature layer prioritises the top-3 signals found here; the model layer fixes Platform B's imbalance failure.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Subscriber Churn  ·  Cross-Platform ML Study  ·  Vishali K, Fatima College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064240" y="63825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108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6 –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 — and what this cannot claim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56432" cy="2103120"/>
          </a:xfrm>
          <a:prstGeom prst="roundRect">
            <a:avLst>
              <a:gd name="adj" fmla="val 4783"/>
            </a:avLst>
          </a:prstGeom>
          <a:solidFill>
            <a:srgbClr val="1E2430"/>
          </a:solidFill>
          <a:ln w="19050">
            <a:solidFill>
              <a:srgbClr val="E5484D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76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the signal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1635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intensity ranks top-3 on every platform; tenure and login recency follow wherever recorded.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72768"/>
            <a:ext cx="3456432" cy="2103120"/>
          </a:xfrm>
          <a:prstGeom prst="roundRect">
            <a:avLst>
              <a:gd name="adj" fmla="val 4783"/>
            </a:avLst>
          </a:prstGeom>
          <a:solidFill>
            <a:srgbClr val="1E2430"/>
          </a:solidFill>
          <a:ln w="19050">
            <a:solidFill>
              <a:srgbClr val="F5A524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35424" y="1719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176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outranks the algorithm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81635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 everywhere, but the spread between datasets is far larger than between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28432" y="1572768"/>
            <a:ext cx="3456432" cy="2103120"/>
          </a:xfrm>
          <a:prstGeom prst="roundRect">
            <a:avLst>
              <a:gd name="adj" fmla="val 4783"/>
            </a:avLst>
          </a:prstGeom>
          <a:solidFill>
            <a:srgbClr val="1E2430"/>
          </a:solidFill>
          <a:ln w="19050">
            <a:solidFill>
              <a:srgbClr val="2DD4B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66176" y="17190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176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not evidence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81635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accuracy with 7.1% recall is a model that learned to say 'nobody leaves'. Report F1 and AUC.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913632"/>
            <a:ext cx="5715000" cy="1828800"/>
          </a:xfrm>
          <a:prstGeom prst="roundRect">
            <a:avLst>
              <a:gd name="adj" fmla="val 5500"/>
            </a:avLst>
          </a:prstGeom>
          <a:solidFill>
            <a:srgbClr val="161A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are synthetic or of unconfirmed provenance; no dataset represents a verified named service.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B's 963 rows leave ~170 churned customers — too few for stable minority-class estimates.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duplicate cut the comparison from four platforms to three.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kept identical by design, to protect the like-for-like comparison.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3913632"/>
            <a:ext cx="5093208" cy="1828800"/>
          </a:xfrm>
          <a:prstGeom prst="roundRect">
            <a:avLst>
              <a:gd name="adj" fmla="val 5500"/>
            </a:avLst>
          </a:prstGeom>
          <a:solidFill>
            <a:srgbClr val="161A2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93992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12280" y="454456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3448" y="44622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— </a:t>
            </a: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real, named streaming platforms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484632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13448" y="4764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methods — </a:t>
            </a: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weighting, SMOTE, threshold tuning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514807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3448" y="50657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 — </a:t>
            </a: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and trend features from raw playback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5449824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13448" y="53675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validation — </a:t>
            </a:r>
            <a:r>
              <a:rPr lang="en-US" sz="1100" dirty="0">
                <a:solidFill>
                  <a:srgbClr val="98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real churn outcomes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Vishali K  ·  Department of Computer Applications, Fatima College, Madurai  ·  vishali67891@gmail.com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59893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4389120"/>
            <a:ext cx="182880" cy="50292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30184" y="4023360"/>
            <a:ext cx="182880" cy="86868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526280"/>
            <a:ext cx="182880" cy="36576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88552" y="3474720"/>
            <a:ext cx="182880" cy="141732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17736" y="4206240"/>
            <a:ext cx="182880" cy="68580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2926080"/>
            <a:ext cx="182880" cy="1965960"/>
          </a:xfrm>
          <a:prstGeom prst="roundRect">
            <a:avLst>
              <a:gd name="adj" fmla="val 4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76104" y="4434840"/>
            <a:ext cx="182880" cy="45720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05288" y="3794760"/>
            <a:ext cx="182880" cy="109728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4472" y="4572000"/>
            <a:ext cx="182880" cy="320040"/>
          </a:xfrm>
          <a:prstGeom prst="roundRect">
            <a:avLst>
              <a:gd name="adj" fmla="val 40000"/>
            </a:avLst>
          </a:prstGeom>
          <a:solidFill>
            <a:srgbClr val="27303F"/>
          </a:solidFill>
          <a:ln w="12700">
            <a:solidFill>
              <a:srgbClr val="273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63656" y="3200400"/>
            <a:ext cx="182880" cy="1691640"/>
          </a:xfrm>
          <a:prstGeom prst="roundRect">
            <a:avLst>
              <a:gd name="adj" fmla="val 4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4343400"/>
            <a:ext cx="182880" cy="548640"/>
          </a:xfrm>
          <a:prstGeom prst="roundRect">
            <a:avLst>
              <a:gd name="adj" fmla="val 40000"/>
            </a:avLst>
          </a:prstGeom>
          <a:solidFill>
            <a:srgbClr val="7A1F25"/>
          </a:solidFill>
          <a:ln w="12700">
            <a:solidFill>
              <a:srgbClr val="7A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22024" y="3931920"/>
            <a:ext cx="182880" cy="96012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SUBSCRIBER RETENTION  ·  2026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53896" y="2560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2926080" cy="0"/>
          </a:xfrm>
          <a:prstGeom prst="line">
            <a:avLst/>
          </a:prstGeom>
          <a:noFill/>
          <a:ln w="12700">
            <a:solidFill>
              <a:srgbClr val="27303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456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1179</Words>
  <Application>Microsoft Office PowerPoint</Application>
  <PresentationFormat>Widescreen</PresentationFormat>
  <Paragraphs>166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Plus Jakarta Sans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Subscriber Churn: An AI-Driven Cross-Platform Study</dc:title>
  <dc:subject>PptxGenJS Presentation</dc:subject>
  <dc:creator>Vishali K</dc:creator>
  <cp:lastModifiedBy>Jawa K.S</cp:lastModifiedBy>
  <cp:revision>4</cp:revision>
  <dcterms:created xsi:type="dcterms:W3CDTF">2026-09-17T06:10:27Z</dcterms:created>
  <dcterms:modified xsi:type="dcterms:W3CDTF">2026-09-18T14:32:15Z</dcterms:modified>
</cp:coreProperties>
</file>